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1) Always distinguish between Naive Row CR (9.15%), Strict Session CR (10.12% = 24,456/241,548), and Order-to-Session Ratio (10.40% = 25,133/241,548). 2) iOS beats Compatible Android by +2.84 pp (Z=20.28). 3) Aug 27 iOS crash was a 5,134-session Moroccan domestic viral spike (Ex-MA CR = 11.36%).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Full-width visualization of our DAMA audit. Notice the 4 bottom cards: 1) 30,836 duplicate session IDs (33,147 surplus rows), 2) 677 multi-plan orders inside 24,456 converting sessions, 3) 70.78% Android Incompatible zero-event bounce, 4) 99.88% tag sync &amp; 250 client loop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Full-width funnel and Markov hazard chart on top, paired with the exact 4-stage cohort table below. Highlight that Compatible Android beats iOS at S0-&gt;S1 (+3.66 pp), so the 2.84 pp CR deficit is 100% in S1-&gt;S2 (+12.84 pp excess drop) and S2-&gt;S3 (+4.38 pp excess drop).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both anomalies clearly: 1) Aug 27 iOS crash to 5.64% was an external composition shock (5,134 Moroccan iOS sessions converting at 0.10%, with 97.8% searching for local MA data). Removing Morocco restores Aug 27 iOS CR to 11.36%. 2) Friday Aug 16 is the global peak (1,130 orders / $16,240.64).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Contrast the theoretical upper-bound revenue ceiling (+$35,751.65 over 27d if 27,073 incompatible users had eSIM phones converting at 9.65% and $14.16 ARPPU) with the real-world marketing bleed (-$39,371.31 net over 27d / -$532k/yr at $1.50 blended CAC).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Conclude the Core Executive Deck with our prioritized P0-P2 decision matrix. Every initiative is tied to a specific SQL finding, owner, effort level, and annualized dollar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appendix slide summarizes all 8 formal hypotheses tested in Phase A across SQL Modules 01-04, including exact statistical test results and commercial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Deep dive into Module 3 geographic confounding and buyer archetypes. Point out that In-Destination Purchases (geo_country = destination) represent 5,939 orders ($82,100.94 / 22.89% of revenue) from travelers buying on arrival via Airport/Hotel Wi-Fi or dual-SIM locals.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Full-width 3-panel behavioral topology chart paired with the exact breakdown table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Because events has no intra-session timestamp, we classify converting sessions into 4 timestamp-free behavioral categories and cross-tabulate MAX(plan_quota) against transaction_plan_quota.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Final appendix slide combining Unit Economics ($/GB), Implied Promotional Asymmetry (H7), and our 6-point Telemetry v2 Engineering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0A5FA"/>
                </a:solidFill>
                <a:latin typeface="Calibri"/>
              </a:defRPr>
            </a:pPr>
            <a:r>
              <a:t>SAILY (NORD SECURITY)  |  SENIOR DATA ANALYST CASE STUDY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Unlocking Android Conversion Parity, Stopping Hardware CAC Bleed &amp; Capturing Multi-Country Demand</a:t>
            </a:r>
          </a:p>
          <a:p>
            <a:pPr>
              <a:spcAft>
                <a:spcPts val="22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t>End-to-End PACE Framework Synthesis (Plan -&gt; Analyze -&gt; Construct -&gt; Execute)</a:t>
            </a:r>
            <a:br/>
            <a:r>
              <a:t>Observation Window: Aug 1 – Aug 27, 2024  |  241,548 Deduplicated Sessions  |  25,133 Paid Orders  |  $358,625.85 Gross Billings</a:t>
            </a:r>
            <a:br/>
            <a:br/>
            <a:r>
              <a:t>• Part I — Core Executive Deck (Slides 1–7): Direct Answers to the 5 Case Study Questions &amp; P0–P2 Action Roadmap</a:t>
            </a:r>
            <a:br/>
            <a:r>
              <a:t>• Part II — Technical Deep-Dive Appendix (Slides 8–12): H1–H8 Registry, Simpson's Paradox, Behavioral Topology, Quota Matrix &amp; Telemetry v2</a:t>
            </a:r>
          </a:p>
          <a:p>
            <a:pPr>
              <a:defRPr sz="1300" b="1">
                <a:solidFill>
                  <a:srgbClr val="2DD4BF"/>
                </a:solidFill>
                <a:latin typeface="Calibri"/>
              </a:defRPr>
            </a:pPr>
            <a:r>
              <a:t>Candidate: Mantas Normantas   |   Role Applied: Data Analyst (Saily)   |   Data Engine: Google Cloud BigQuery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0A5FA"/>
                </a:solidFill>
                <a:latin typeface="Calibri"/>
              </a:defRPr>
            </a:pPr>
            <a:r>
              <a:t>PART I: CORE EXECUTIVE DECK  |  EXECUTIVE SUMMARY — DIRECT ANSWERS TO THE 5 CASE STUDY QUESTIONS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True Deduplicated Session CR is 10.12% (+0.97 pp vs Naive); Closing Android Gaps Unlocks +$297k to +$1.40M/yr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I: Core Executive Deck  | 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269748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731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33856"/>
            <a:ext cx="24963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1. TRUE SESSION CONVERSION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10.12% Strict CR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24,456 buyers / 241,548 sessions</a:t>
            </a:r>
            <a:br/>
            <a:r>
              <a:t>(vs 9.15% naive row CR; 10.40% order ratio)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78992"/>
            <a:ext cx="269748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078992"/>
            <a:ext cx="73152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133856"/>
            <a:ext cx="24963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2. iOS vs ANDROID COMPAT (H1)</a:t>
            </a:r>
          </a:p>
          <a:p>
            <a:pPr>
              <a:defRPr sz="1650" b="1">
                <a:solidFill>
                  <a:srgbClr val="0D9488"/>
                </a:solidFill>
                <a:latin typeface="Calibri"/>
              </a:defRPr>
            </a:pPr>
            <a:r>
              <a:t>+2.84 pp iOS Lead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iOS 12.48% vs And. Compat 9.65%</a:t>
            </a:r>
            <a:br/>
            <a:r>
              <a:t>(Z = 20.28, p &lt; 0.0001; S1-&gt;S2 &amp; S2-&gt;S3)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78992"/>
            <a:ext cx="269748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078992"/>
            <a:ext cx="73152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33856"/>
            <a:ext cx="24963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3. AUG 27 MOROCCO SURGE (H3)</a:t>
            </a:r>
          </a:p>
          <a:p>
            <a:pPr>
              <a:defRPr sz="1650" b="1">
                <a:solidFill>
                  <a:srgbClr val="D97706"/>
                </a:solidFill>
                <a:latin typeface="Calibri"/>
              </a:defRPr>
            </a:pPr>
            <a:r>
              <a:t>11.36% Ex-MA CR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5,134 MA iOS sessions (0.10% CR)</a:t>
            </a:r>
            <a:br/>
            <a:r>
              <a:t>diluted global iOS CR to 5.64%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078992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078992"/>
            <a:ext cx="73152" cy="11155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133856"/>
            <a:ext cx="252374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4. INCOMPATIBLE ANDROID (H2/H4)</a:t>
            </a:r>
          </a:p>
          <a:p>
            <a:pPr>
              <a:defRPr sz="1650" b="1">
                <a:solidFill>
                  <a:srgbClr val="DC2626"/>
                </a:solidFill>
                <a:latin typeface="Calibri"/>
              </a:defRPr>
            </a:pPr>
            <a:r>
              <a:t>+$35.8k / -$39.4k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+$35,752 27d hardware ceiling (~$483k/yr)</a:t>
            </a:r>
            <a:br/>
            <a:r>
              <a:t>-$39,371 27d Paid CAC bleed (-$532k/yr)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2304288"/>
          <a:ext cx="11365992" cy="413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3017520"/>
                <a:gridCol w="3136392"/>
              </a:tblGrid>
              <a:tr h="68884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 Study Question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 Empirical Finding (BigQuery Reconciled)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Root Cause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 Action &amp; Annualized P&amp;L Impact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8884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Overall CR &amp; Data Hygiene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Strict Session CR = 10.12% (24,456 / 241,548)</a:t>
                      </a:r>
                      <a:br/>
                      <a:r>
                        <a:t>Order Ratio = 10.40% (25,133 orders; $358,625.85)</a:t>
                      </a:r>
                      <a:br/>
                      <a:r>
                        <a:t>Naive Row CR = 9.15% (25,133 / 274,695 raw rows)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30,836 duplicate session IDs generate 33,147 surplus rows; 677 multi-plan orders occur in same session.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 mart_saily_sessions_deduped in dbt &amp; split fct_sessions / fct_orders (Telemetry v2).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884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Cohort Funnel Comparison (H1)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= 12.48% CR (16,088 / 128,872)</a:t>
                      </a:r>
                      <a:br/>
                      <a:r>
                        <a:t>Android Compat = 9.65% CR (8,258 / 85,603)</a:t>
                      </a:r>
                      <a:br/>
                      <a:r>
                        <a:t>Android Incompat = 0.41% CR (110 / 27,073)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Android Compat wins S0-&gt;S1 (52.18% vs 48.52%), but suffers 43.42% drop at S1-&gt;S2 &amp; 67.32% at S2-&gt;S3.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P1-1: Redesign Android S1-&gt;S2 config UX, surface $/GB badges &amp; promo parity (+$39k to +$134k/yr).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884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Incompatible Drop-Off (H2)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70.78% (19,162) bounce at S0; 7,889 reach S1; 4,735 reach S2 (97.68% drop); 110 sessions ($1,238.19) pay.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Missing pre-checkout EuiccManager hardware gate allows 4,735 incompatible phones into checkout.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P0-2: Hard-block S2 on incompatible Android &amp; show S0 modal (eliminates ~1,500 defective orders/yr).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884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Anomalies &amp; Cyclicality (H3)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Aug 27 iOS CR = 5.64% observed vs 11.36% Ex-Morocco.</a:t>
                      </a:r>
                      <a:br/>
                      <a:r>
                        <a:t>Aug 16 Peak = 1,130 orders ($16,240.64; 14.83% iOS CR).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Aug 27: 5,134 Moroccan iOS sessions (97.8% domestic MA search). Fri (1.083x) &amp; Sat (1.074x) weekend peaks.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P1-3 &amp; P2-2: Paid UA geo-anomaly circuit-breaker + shift ad pacing +15% to Thu PM–Sat AM (+$61k–$101k/yr).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885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 Opportunity vs CAC Bleed (H4)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Upper-Bound Revenue Ceiling: +$35,751.65 / 27d.</a:t>
                      </a:r>
                      <a:br/>
                      <a:r>
                        <a:t>Real-World Paid CAC Bleed: -$39,371.31 / 27d (@ $1.50 CAC).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Saily cannot remotely upgrade user hardware; acquiring 27,073 incompatible sessions burns paid UA budget.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P0-1: Enable Play Console euicc catalog filter + Paid UA OEM exclusion (saves +$258k to +$1.26M/yr).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0A5FA"/>
                </a:solidFill>
                <a:latin typeface="Calibri"/>
              </a:defRPr>
            </a:pPr>
            <a:r>
              <a:t>PART I: CORE EXECUTIVE DECK  |  QUESTION 1: DATA GOVERNANCE &amp; PRIMARY KEY DEDUPLICATION (SQL/01_DATA_AUDIT.SQL)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Collapsing 33,147 Duplicate Session Rows Lifts True Session CR +0.97 pp to 10.12% While Preserving All 25,133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I: Core Executive Deck  |  Slide 3 of 12</a:t>
            </a:r>
          </a:p>
        </p:txBody>
      </p:sp>
      <p:pic>
        <p:nvPicPr>
          <p:cNvPr id="6" name="Picture 5" descr="01_data_hygiene_and_bou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023" y="1042415"/>
            <a:ext cx="9377649" cy="38221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4956048"/>
            <a:ext cx="73152" cy="14813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PRIMARY KEY DEDUPLICATION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241,548 Sessions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274,695 raw rows contain 30,836 duplicate IDs</a:t>
            </a:r>
            <a:br/>
            <a:r>
              <a:t>(33,147 surplus rows; +20.9% JOIN inflation risk)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4956048"/>
            <a:ext cx="73152" cy="14813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MULTI-ORDER PRESERVATION</a:t>
            </a:r>
          </a:p>
          <a:p>
            <a:pPr>
              <a:defRPr sz="1650" b="1">
                <a:solidFill>
                  <a:srgbClr val="0D9488"/>
                </a:solidFill>
                <a:latin typeface="Calibri"/>
              </a:defRPr>
            </a:pPr>
            <a:r>
              <a:t>25,133 Paid Orders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$358,625.85 billings ($14.27 AOV) across</a:t>
            </a:r>
            <a:br/>
            <a:r>
              <a:t>24,456 buyers (677 multi-plan orders; $14.66 ARPPU)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956048"/>
            <a:ext cx="73152" cy="14813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ZERO-EVENT BOUNCE GAP</a:t>
            </a:r>
          </a:p>
          <a:p>
            <a:pPr>
              <a:defRPr sz="1650" b="1">
                <a:solidFill>
                  <a:srgbClr val="DC2626"/>
                </a:solidFill>
                <a:latin typeface="Calibri"/>
              </a:defRPr>
            </a:pPr>
            <a:r>
              <a:t>70.78% Incompat Bounce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125,553 bounced sessions (51.98% global):</a:t>
            </a:r>
            <a:br/>
            <a:r>
              <a:t>70.78% And. Incompat vs 47.53% And. Compat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956048"/>
            <a:ext cx="2724912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4956048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5010912"/>
            <a:ext cx="252374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TAG SYNC &amp; CLIENT LOOPS</a:t>
            </a:r>
          </a:p>
          <a:p>
            <a:pPr>
              <a:defRPr sz="1650" b="1">
                <a:solidFill>
                  <a:srgbClr val="D97706"/>
                </a:solidFill>
                <a:latin typeface="Calibri"/>
              </a:defRPr>
            </a:pPr>
            <a:r>
              <a:t>99.88% Tag Sync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24,427 / 24,456 buyers logged events (29 dark);</a:t>
            </a:r>
            <a:br/>
            <a:r>
              <a:t>250 sessions fired &gt;15 identical taps (max 167)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0A5FA"/>
                </a:solidFill>
                <a:latin typeface="Calibri"/>
              </a:defRPr>
            </a:pPr>
            <a:r>
              <a:t>PART I: CORE EXECUTIVE DECK  |  QUESTIONS 2 &amp; 3: FUNNEL COMPARISON (H1) &amp; INCOMPATIBLE DROP-OFF (H2) (SQL/02_FUNNEL_AND_MARKOV.SQL)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Android Compat Wins S0-&gt;S1 (52.2% vs 48.5%), Drops at S1-&gt;S2 (43.4%) &amp; S2-&gt;S3 (67.3%); 97.7% Incompat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I: Core Executive Deck  |  Slide 4 of 12</a:t>
            </a:r>
          </a:p>
        </p:txBody>
      </p:sp>
      <p:pic>
        <p:nvPicPr>
          <p:cNvPr id="6" name="Picture 5" descr="funn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389" y="1024128"/>
            <a:ext cx="8570917" cy="35844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663440"/>
          <a:ext cx="1136599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051560"/>
                <a:gridCol w="1234440"/>
                <a:gridCol w="1143000"/>
                <a:gridCol w="1325880"/>
                <a:gridCol w="1005840"/>
                <a:gridCol w="1143000"/>
                <a:gridCol w="1143000"/>
                <a:gridCol w="1261872"/>
              </a:tblGrid>
              <a:tr h="35661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Device &amp; Compatibility Cohort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S0: Unique Sessions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S1: Plan Select (click_to_order_1)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S2: Checkout (click_to_order_2)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S3: Buyers (Paid Orders)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S0-&gt;S1 Reach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S1-&gt;S2 Drop Hazard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S2-&gt;S3 Drop Hazard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Strict CR (Order Ratio)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(not_applicable)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128,872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62,532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43,411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16,088 (16,527)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48.52%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30.58%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62.94%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12.48% (12.82%)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Android Compatible (true)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85,603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44,666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25,273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8,258 (8,495)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52.18%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43.42%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67.32%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9.65% (9.92%)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Android Incompatible (false)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7,889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4,735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110 (111)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29.14%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39.98%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0.41% (0.41%)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 Total (Deduplicated)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241,548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115,087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73,419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24,456 (25,133)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47.65%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36.21%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66.69%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10.12% (10.40%)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0A5FA"/>
                </a:solidFill>
                <a:latin typeface="Calibri"/>
              </a:defRPr>
            </a:pPr>
            <a:r>
              <a:t>PART I: CORE EXECUTIVE DECK  |  QUESTION 4: MACRO ANOMALIES (H3: AUG 27 CRASH &amp; AUG 16 PEAK) &amp; WEEKLY CYCLICALITY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Aug 27 iOS Crash (5.64%) Was Driven by 5,134 Moroccan Domestic Sessions (0.10% CR); Ex-Morocco iOS CR Was 11.36%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I: Core Executive Deck  |  Slide 5 of 12</a:t>
            </a:r>
          </a:p>
        </p:txBody>
      </p:sp>
      <p:pic>
        <p:nvPicPr>
          <p:cNvPr id="6" name="Picture 5" descr="anomaly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41" y="1042415"/>
            <a:ext cx="10186812" cy="38221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4956048"/>
            <a:ext cx="73152" cy="14813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AUG 27 MOROCCO SURGE (H3)</a:t>
            </a:r>
          </a:p>
          <a:p>
            <a:pPr>
              <a:defRPr sz="1650" b="1">
                <a:solidFill>
                  <a:srgbClr val="DC2626"/>
                </a:solidFill>
                <a:latin typeface="Calibri"/>
              </a:defRPr>
            </a:pPr>
            <a:r>
              <a:t>5,134 MA iOS Sessions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50.79% of Aug 27 iOS traffic (10,109 total);</a:t>
            </a:r>
            <a:br/>
            <a:r>
              <a:t>converted at 0.10% (5 buyers) on $3.99 tourist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4956048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DOMESTIC MA SEARCH INTENT</a:t>
            </a:r>
          </a:p>
          <a:p>
            <a:pPr>
              <a:defRPr sz="1650" b="1">
                <a:solidFill>
                  <a:srgbClr val="D97706"/>
                </a:solidFill>
                <a:latin typeface="Calibri"/>
              </a:defRPr>
            </a:pPr>
            <a:r>
              <a:t>97.8% Local MA Search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Across all 5,787 MA sessions on Aug 27, 5,019 of</a:t>
            </a:r>
            <a:br/>
            <a:r>
              <a:t>5,134 logged event pairs searched destination = 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956048"/>
            <a:ext cx="73152" cy="14813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COUNTERFACTUAL EX-MA CR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11.36% Ex-MA iOS CR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Excluding Morocco restores Aug 27 iOS CR from</a:t>
            </a:r>
            <a:br/>
            <a:r>
              <a:t>5.64% to 11.36% (565 / 4,975) — zero app bug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956048"/>
            <a:ext cx="2724912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4956048"/>
            <a:ext cx="73152" cy="14813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5010912"/>
            <a:ext cx="252374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AUG 16 PEAK &amp; CYCLICALITY</a:t>
            </a:r>
          </a:p>
          <a:p>
            <a:pPr>
              <a:defRPr sz="1650" b="1">
                <a:solidFill>
                  <a:srgbClr val="0D9488"/>
                </a:solidFill>
                <a:latin typeface="Calibri"/>
              </a:defRPr>
            </a:pPr>
            <a:r>
              <a:t>1.083x Fri / 1.074x Sat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Aug 16 peak: 1,130 orders ($16,240.64; 14.83% iOS CR).</a:t>
            </a:r>
            <a:br/>
            <a:r>
              <a:t>Fri (11.10% CR) &amp; Sat (10.89% CR) vs Wed (0.922x)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0A5FA"/>
                </a:solidFill>
                <a:latin typeface="Calibri"/>
              </a:defRPr>
            </a:pPr>
            <a:r>
              <a:t>PART I: CORE EXECUTIVE DECK  |  QUESTION 5: ADDRESSABLE HARDWARE OPPORTUNITY CEILING VS. PAID CAC BLEED (H4)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Upper-Bound Hardware Parity Equals +$35,752/27d (~$483k/yr), But Real-World Paid CAC Bleed Destroys -$532k/yr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I: Core Executive Deck  |  Slide 6 of 12</a:t>
            </a:r>
          </a:p>
        </p:txBody>
      </p:sp>
      <p:pic>
        <p:nvPicPr>
          <p:cNvPr id="6" name="Picture 5" descr="lost_revenue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521" y="1024128"/>
            <a:ext cx="9256652" cy="35844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663440"/>
          <a:ext cx="1136599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48840"/>
                <a:gridCol w="2880360"/>
                <a:gridCol w="1737360"/>
                <a:gridCol w="1764792"/>
              </a:tblGrid>
              <a:tr h="356616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Valuation / Sensitivity Scenario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Session / Buyer Volume (27 Days)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Gross Revenue / Spend Formula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27-Day P&amp;L Impact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Annualized Impact (365/27)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Upper-Bound Hardware Revenue Ceiling (H2)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 sessions -&gt; 2,612 buyers (2,502 net)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2,612 x $14.1615 ARPPU ($36,989.84) - $1,238.19 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+$35,751.65 forfeited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+$483,310 / yr ceiling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Paid CAC Bleed — Low ($0.75 Blended CAC)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 incompat sessions (110 bug buyers)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$20,304.75 ad spend vs $1,238.19 defective revenue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-$19,066.56 net loss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-$257,752 / yr bleed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Paid CAC Bleed — Base ($1.50 Blended CAC)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 incompat sessions (110 bug buyers)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$40,609.50 ad spend vs $1,238.19 defective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-$39,371.31 net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-$532,240.64 / yr bleed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Paid CAC Bleed — Mid/High ($2.50–$3.50 CAC)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 incompat sessions (110 bug buyers)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$67,682.50–$94,755.50 spend vs $1,238.19 revenue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-$66.4k to -$93.5k loss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-$898k to -$1.26M / yr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0A5FA"/>
                </a:solidFill>
                <a:latin typeface="Calibri"/>
              </a:defRPr>
            </a:pPr>
            <a:r>
              <a:t>PART I: CORE EXECUTIVE DECK  |  PRIORITIZED 7-INITIATIVE ACTION ROADMAP (P0–P2) &amp; TELEMETRY V2 SUMMARY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Executing P0–P2 Initiatives Delivers +$258k–$1.26M/yr in CAC Savings &amp; +$262k–$486k/yr in Incremental Gross Billings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I: Core Executive Deck  |  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697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73152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06424"/>
            <a:ext cx="2496312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P0-1: STOP PAID CAC BLEED</a:t>
            </a:r>
          </a:p>
          <a:p>
            <a:pPr>
              <a:defRPr sz="1650" b="1">
                <a:solidFill>
                  <a:srgbClr val="DC2626"/>
                </a:solidFill>
                <a:latin typeface="Calibri"/>
              </a:defRPr>
            </a:pPr>
            <a:r>
              <a:t>+$532k/yr Base Saved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Play Console euicc catalog gate + Paid UA</a:t>
            </a:r>
            <a:br/>
            <a:r>
              <a:t>non-eSIM OEM exclusion (+$258k–$1.26M/yr)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51560"/>
            <a:ext cx="2697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73152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106424"/>
            <a:ext cx="2496312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P0-2: BLOCK DEFECTIVE ORDERS</a:t>
            </a:r>
          </a:p>
          <a:p>
            <a:pPr>
              <a:defRPr sz="1650" b="1">
                <a:solidFill>
                  <a:srgbClr val="D97706"/>
                </a:solidFill>
                <a:latin typeface="Calibri"/>
              </a:defRPr>
            </a:pPr>
            <a:r>
              <a:t>~1,500 Orders/yr Blocked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In-app EuiccManager S0 modal &amp; S2 hard-block</a:t>
            </a:r>
            <a:br/>
            <a:r>
              <a:t>eliminates 110 bug buyers ($1,238 / 27d)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51560"/>
            <a:ext cx="26974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05156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06424"/>
            <a:ext cx="2496312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P1: ANDROID UX, PROMO &amp; RETRY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+$128k–$262k/yr Lift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P1-1 Android S1-&gt;S2 UX &amp; promo parity (+$39k–$134k)</a:t>
            </a:r>
            <a:br/>
            <a:r>
              <a:t>+ P1-2 Checkout retry fallback (+$89k–$128k)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051560"/>
            <a:ext cx="272491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05156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106424"/>
            <a:ext cx="2523744" cy="941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P2: BUNDLES &amp; PEAK PACING</a:t>
            </a:r>
          </a:p>
          <a:p>
            <a:pPr>
              <a:defRPr sz="1650" b="1">
                <a:solidFill>
                  <a:srgbClr val="0D9488"/>
                </a:solidFill>
                <a:latin typeface="Calibri"/>
              </a:defRPr>
            </a:pPr>
            <a:r>
              <a:t>+$134k–$224k/yr Lift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P2-1 EU&lt;-&gt;AT regional smart card (+$73k–$123k)</a:t>
            </a:r>
            <a:br/>
            <a:r>
              <a:t>+ P2-2 Thu–Sat pacing &amp; 10GB anchor (+$61k–$101k)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2176272"/>
          <a:ext cx="1136599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240280"/>
                <a:gridCol w="2240280"/>
                <a:gridCol w="2788920"/>
                <a:gridCol w="1783080"/>
                <a:gridCol w="1444752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Strategic Initiative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Gap / Root Cause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Concrete Engineering / Growth Action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Annualized Impact (365/27)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&amp; Timeline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Pre-Install Paid UA &amp; Play Store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 incompat sessions (0.41% CR, 70.78% bounce)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Enable android.hardware.telephony.euicc in Play Console + exclude non-eSIM OEMs in Paid UA.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+$258k to +$1.26M/yr saved (+$532k 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Perf. Mktg &amp; Android Eng (Wk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P0-2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In-App EuiccManager Gate (S0 + S2)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4,735 incompat reach S2; 110 sessions ($1,238.19) pay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 EuiccManager.isEnabled() at S0; hard-block S2 checkout unless buying for companion device.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Eliminates ~1,500 defective orders &amp; CS tickets/yr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Android Mobile Eng (Wk 1–2)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Android S1-&gt;S2 UX &amp; Promo Parity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43.42% Android S1-&gt;S2 drop; -4.43 pp promo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Sticky S1-&gt;S2 bottom sheet, $/GB savings badges (-39% to -56%), and Android promo deeplink parity.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+$39k to +$134k/yr net incremental billings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Product Growth &amp; UX (Sprint 2–3)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P1-2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Checkout Retry Loop Fallback Sheet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3+ click_to_order_2 retries plunge -52.2% to 17.92%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Auto-trigger 1-Tap Payment Fallback Sheet (Apple/Google Pay &lt;-&gt; Card/PayPal) on 2nd S2 tap.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+$89k to +$128k/yr recovered checkouts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Payments Eng (Sprint 2–3)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Paid UA Geo-Anomaly Circuit-Breaker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Aug 27 Morocco viral spike (5,134 iOS sessions, 0.10% CR)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Auto-pause ad sets when any country spikes &gt;3x 7d volume at &lt;1% CR; report Ex-Anomaly CR in BI.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Protects Paid UA ROAS &amp; KPI integrity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Mktg Analytics &amp; BI (Sprint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P2-1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Regional vs Single-Country Smart Card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3+ countries = -72.3% CR drop; EU&lt;-&gt;AT #1 pair (693)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Show 'Visiting 2+ EU Countries? Compare EU ($16.65) vs Single-Country ($9.79)' in 2–3 event window.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+$73k to +$123k/yr rescued multi-country orders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Search &amp; Discovery (Sprint 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P2-2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Thu–Sat Peak Pacing &amp; 10 GB Anchor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Fri (1.083x) / Sat (1.074x) peak; Transatlantic $17.28 AOV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Shift Paid UA budget +15% to Thu PM–Sat AM; default-select 10 GB anchor on US/CA -&gt; EU corridors.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+$61k to +$101k/yr AOV &amp; ROAS 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Growth Mktg &amp; Pricing (Sprint 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ENG-v2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Telemetry v2 &amp; dbt Warehouse Spec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33,147 dup rows, 125.5k 0-event bounces, no timestamps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Split fct_sessions / fct_orders; add user_id, event_timestamp, app_open, promo_code_id &amp; 500ms debounce.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Eliminates -0.97 pp CR distortion &amp; 52% blind spot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 Eng &amp; Mobile SDK (Q1)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DD4BF"/>
                </a:solidFill>
                <a:latin typeface="Calibri"/>
              </a:defRPr>
            </a:pPr>
            <a:r>
              <a:t>PART II: TECHNICAL DEEP-DIVE APPENDIX  |  APPENDIX A1: INFERENTIAL HYPOTHESIS REGISTRY (H1–H8)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6 of 8 Hypotheses Empirically Confirmed; H5 (Quota Down-Selling) &amp; H6 (Simpson's Paradox) Formally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II: Technical Deep-Dive Appendix  |  Slide 8 of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78992"/>
          <a:ext cx="11365991" cy="5358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880360"/>
                <a:gridCol w="2514600"/>
                <a:gridCol w="4050791"/>
                <a:gridCol w="1234440"/>
              </a:tblGrid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Hypothesis Statement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Statistical / SQL Test Method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 Empirical Evidence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converts significantly higher than Compatible Android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Two-Proportion Z-Test (Deduplicated Sessions)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12.48% (16,088/128,872) vs 9.65% (8,258/85,603); Diff = +2.84 pp (Z = 20.28, p &lt; 0.0001)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Incompatible Android users reach payment before dropping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4-Stage Markov Transition Matrix (sql/02)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7,889 reach S1; 4,735 reach S2 (97.68% drop hazard); 110 sessions ($1,238.19) pay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Aug 27 iOS crash was an external geo-composition shock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Country Decomposition &amp; Counterfactual 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5,134 Moroccan iOS sessions (0.10% CR; 97.8% domestic MA search); Ex-MA CR = 11.36%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Paid UA on incompatible Android destroys net marketing margin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Blended CAC Sensitivity Matrix ($0.75–$3.50)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27,073 incompat sessions burn -$19.07k to -$93.52k net over 27d (-$39.37k / -$532k/yr base)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Checkout drop-off is driven by mid-session quota down-selling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Timestamp-Free Quota Exploration Matrix (N=24,426)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92.16% (22,512) view 1 quota; 4.96% (1,211) view multiple &amp; buy largest (97.12% diagonal)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REJECTED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 iOS CR lead is a Simpson's Paradox country mix artifact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Within-Country OS Stratification (Top 11 Markets)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beats Compatible Android in 10 of 11 top markets (US +3.07 pp, CA +5.93 pp, RO +7.02 pp)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REJECTED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benefits from higher promotional discount penetration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Modal SKU Anchor Price Decomposition (N=24,782)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25.50% of iOS orders discounted ($1.29/order) vs 21.07% on Android ($1.14/order; +4.43 pp gap)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537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Multi-country browsing &amp; search loops trigger fatigue decay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Event Depth &amp; Deterministic Cross-Shop Matrix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92.57% convert in 2–3 events (30.37% CR); 3+ countries = -72.3% CR drop; EU&lt;-&gt;AT #1 pair (693)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CONFIRMED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DD4BF"/>
                </a:solidFill>
                <a:latin typeface="Calibri"/>
              </a:defRPr>
            </a:pPr>
            <a:r>
              <a:t>PART II: TECHNICAL DEEP-DIVE APPENDIX  |  APPENDIX A2: SIMPSON'S PARADOX CHECK (H6) &amp; BUYER ARCHETYPES (SQL/03)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iOS Beats Compatible Android in 10 of 11 Top Markets; In-Destination Purchases Drive 22.89% ($82.1k) of Billings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II: Technical Deep-Dive Appendix  |  Slide 9 of 12</a:t>
            </a:r>
          </a:p>
        </p:txBody>
      </p:sp>
      <p:pic>
        <p:nvPicPr>
          <p:cNvPr id="6" name="Picture 5" descr="04_corridors_archetypes_simp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755" y="1042415"/>
            <a:ext cx="9546185" cy="38221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4956048"/>
            <a:ext cx="73152" cy="14813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H6 REJECTED: 10 OF 11 MARKETS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iOS Leads Across Geos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US (+3.07 pp), UK (+1.36 pp), CA (+5.93 pp),</a:t>
            </a:r>
            <a:br/>
            <a:r>
              <a:t>PL (+4.32 pp), RO (+7.02 pp), CZ (+6.21 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4956048"/>
            <a:ext cx="73152" cy="14813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1. REGIONAL CROSS-BORDER</a:t>
            </a:r>
          </a:p>
          <a:p>
            <a:pPr>
              <a:defRPr sz="1650" b="1">
                <a:solidFill>
                  <a:srgbClr val="0D9488"/>
                </a:solidFill>
                <a:latin typeface="Calibri"/>
              </a:defRPr>
            </a:pPr>
            <a:r>
              <a:t>62.03% of Revenue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16,034 orders ($222,439.80, $13.87 AOV)</a:t>
            </a:r>
            <a:br/>
            <a:r>
              <a:t>Core intra-European &amp; regional travel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956048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2. IN-DESTINATION PURCHASE</a:t>
            </a:r>
          </a:p>
          <a:p>
            <a:pPr>
              <a:defRPr sz="1650" b="1">
                <a:solidFill>
                  <a:srgbClr val="D97706"/>
                </a:solidFill>
                <a:latin typeface="Calibri"/>
              </a:defRPr>
            </a:pPr>
            <a:r>
              <a:t>22.89% ($82,100.94)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5,939 orders ($13.82 AOV; US-&gt;US $27.9k, GB-&gt;GB $13k)</a:t>
            </a:r>
            <a:br/>
            <a:r>
              <a:t>Airport Wi-Fi arrival &amp; local backup SIMs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956048"/>
            <a:ext cx="2724912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4956048"/>
            <a:ext cx="73152" cy="14813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5010912"/>
            <a:ext cx="252374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3. LONG-HAUL TRANSATLANTIC</a:t>
            </a:r>
          </a:p>
          <a:p>
            <a:pPr>
              <a:defRPr sz="1650" b="1">
                <a:solidFill>
                  <a:srgbClr val="DC2626"/>
                </a:solidFill>
                <a:latin typeface="Calibri"/>
              </a:defRPr>
            </a:pPr>
            <a:r>
              <a:t>$17.28 AOV (+25.0%)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3,026 orders ($52,285.60 / 14.58% share)</a:t>
            </a:r>
            <a:br/>
            <a:r>
              <a:t>Led by US-&gt;EU ($19.29 AOV) &amp; US-&gt;GB ($16.43)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DD4BF"/>
                </a:solidFill>
                <a:latin typeface="Calibri"/>
              </a:defRPr>
            </a:pPr>
            <a:r>
              <a:t>PART II: TECHNICAL DEEP-DIVE APPENDIX  |  APPENDIX A3: BEHAVIORAL NAVIGATION, CROSS-SHOPPING (H8) &amp; RETRIES (SQL/04)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92.57% of Buyers Convert in 2–3 Events (30.37% CR); 3,078 Buyers Cross-Shopped Destinations (EU &lt;-&gt; AT #1 at 22.51%)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II: Technical Deep-Dive Appendix  |  Slide 10 of 12</a:t>
            </a:r>
          </a:p>
        </p:txBody>
      </p:sp>
      <p:pic>
        <p:nvPicPr>
          <p:cNvPr id="6" name="Picture 5" descr="05_behavioral_fatigue_and_in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7" y="1024128"/>
            <a:ext cx="10702680" cy="35844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663440"/>
          <a:ext cx="1136599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1554480"/>
                <a:gridCol w="1508760"/>
                <a:gridCol w="2176272"/>
                <a:gridCol w="2194560"/>
              </a:tblGrid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Behavioral Dimension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 / Tier Breakdown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Unique Sessions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Converting Buyers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 Rate / Share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 Engineering Action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Event Depth (Golden Window)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2–3 Events vs 7+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74,546 vs 2,184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22,638 vs 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30.37% CR (92.57% of buyers) vs 5.91%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Keep path to purchase strictly within 2–3 taps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Multi-Country Indecision (H8)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 Country vs 2 vs 3+ Countries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91,117 / 14,603 / 10,275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21,970 / 1,770 / 687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24.11% -&gt; 12.12% -&gt; 6.69% (-72.3% drop)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Trigger Regional Bundle Card on 2nd country search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Destination Cross-Shopping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Viewed Alternative vs Single Dest.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3,078 vs 21,349 buyers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693 in EU &lt;-&gt; AT pair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12.59% cross-shop (#1 EU&lt;-&gt;AT = 22.51%)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Compare EU ($16.65/5GB) vs AT ($9.79/5GB) inline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Checkout Retry Loops (S2)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iOS 1 Attempt vs 3+ Attempts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39,998 vs 736 at S2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14,987 vs 132 buyers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37.47% -&gt; 17.92% CR (-52.18% drop)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Auto-open 1-Tap Payment Fallback on 2nd S2 tap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DD4BF"/>
                </a:solidFill>
                <a:latin typeface="Calibri"/>
              </a:defRPr>
            </a:pPr>
            <a:r>
              <a:t>PART II: TECHNICAL DEEP-DIVE APPENDIX  |  APPENDIX A4: TIMESTAMP-FREE QUOTA EXPLORATION MATRIX (H5 REJECTED)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97.12% (23,723 / 24,426) Buy Their Maximum Browsed Quota (92.16% Single-Quota + 4.96% Multi-Quota Largest)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II: Technical Deep-Dive Appendix  |  Slide 11 of 12</a:t>
            </a:r>
          </a:p>
        </p:txBody>
      </p:sp>
      <p:pic>
        <p:nvPicPr>
          <p:cNvPr id="6" name="Picture 5" descr="plan_migr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800" y="1042415"/>
            <a:ext cx="9416095" cy="38221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4956048"/>
            <a:ext cx="73152" cy="14813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1. SINGLE QUOTA VIEWED</a:t>
            </a:r>
          </a:p>
          <a:p>
            <a:pPr>
              <a:defRPr sz="1650" b="1">
                <a:solidFill>
                  <a:srgbClr val="0D9488"/>
                </a:solidFill>
                <a:latin typeface="Calibri"/>
              </a:defRPr>
            </a:pPr>
            <a:r>
              <a:t>92.16% (22,512 Buyers)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Viewed exactly 1 quota tier and bought it;</a:t>
            </a:r>
            <a:br/>
            <a:r>
              <a:t>zero mid-session quota switching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4956048"/>
            <a:ext cx="73152" cy="14813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2. MULTI-QUOTA -&gt; LARGEST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4.96% (1,211 Buyers)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Explored 2+ quota tiers and purchased</a:t>
            </a:r>
            <a:br/>
            <a:r>
              <a:t>the largest quota viewed (up-tier lock-in)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956048"/>
            <a:ext cx="2697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956048"/>
            <a:ext cx="73152" cy="1481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010912"/>
            <a:ext cx="24963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TOTAL DIAGONAL RETENTION</a:t>
            </a:r>
          </a:p>
          <a:p>
            <a:pPr>
              <a:defRPr sz="1650" b="1">
                <a:solidFill>
                  <a:srgbClr val="0F172A"/>
                </a:solidFill>
                <a:latin typeface="Calibri"/>
              </a:defRPr>
            </a:pPr>
            <a:r>
              <a:t>97.12% (23,723 Buyers)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22,512 single-quota + 1,211 multi-quota largest</a:t>
            </a:r>
            <a:br/>
            <a:r>
              <a:t>= 97.12% buy MAX(plan_quota)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956048"/>
            <a:ext cx="2724912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4956048"/>
            <a:ext cx="73152" cy="14813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5010912"/>
            <a:ext cx="252374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Calibri"/>
              </a:defRPr>
            </a:pPr>
            <a:r>
              <a:t>OFF-DIAGONAL DOWN-SELL</a:t>
            </a:r>
          </a:p>
          <a:p>
            <a:pPr>
              <a:defRPr sz="1650" b="1">
                <a:solidFill>
                  <a:srgbClr val="D97706"/>
                </a:solidFill>
                <a:latin typeface="Calibri"/>
              </a:defRPr>
            </a:pPr>
            <a:r>
              <a:t>Only 2.88% (703 Buyers)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668 (2.73%) bought smallest viewed; 30 (0.12%)</a:t>
            </a:r>
            <a:br/>
            <a:r>
              <a:t>middle; 5 (0.02%) other -&gt; H5 Rejected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DD4BF"/>
                </a:solidFill>
                <a:latin typeface="Calibri"/>
              </a:defRPr>
            </a:pPr>
            <a:r>
              <a:t>PART II: TECHNICAL DEEP-DIVE APPENDIX  |  APPENDIX A5: UNIT ECONOMICS ($/GB), PROMO PARITY (H7) &amp; TELEMETRY V2 SPEC</a:t>
            </a:r>
          </a:p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10 GB Cuts $/GB by 39%–56%; Closing the +4.43 pp Promo Gap Yields +$39k–$134k/yr; Telemetry v2 Fixes 6 Schema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11365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Saily (Nord Security) Case Study  |  Candidate: Mantas Normantas  |  Part II: Technical Deep-Dive Appendix  |  Slide 12 of 12</a:t>
            </a:r>
          </a:p>
        </p:txBody>
      </p:sp>
      <p:pic>
        <p:nvPicPr>
          <p:cNvPr id="6" name="Picture 5" descr="07_unit_economics_and_promo_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41" y="1024128"/>
            <a:ext cx="9234612" cy="35844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663440"/>
          <a:ext cx="1136599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3383280"/>
                <a:gridCol w="2862072"/>
              </a:tblGrid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Telemetry v2 / Economic Pillar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v1 Schema / Baseline State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v2 Engineering / Growth Specification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Quantified Impact / Governance Value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Promo Asymmetry (H7 Confirmed)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25.50% iOS orders discounted ($1.29) vs 21.07% Android ($1.14)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Equalize Android promo deeplink parity (+0.60 to +1.20 pp CR lift)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+$2,888 to +$9,905 / 27d (+$39k to +$134k/yr)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Split fct_sessions &amp; fct_orders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30,836 duplicate session IDs (33,147 surplus rows) in sessions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Enforce 1 row/unique_session_id in fct_sessions &amp; 1 row/transaction_id in fct_orders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Eliminates -0.97 pp CR distortion (9.15% vs 10.12%)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Top-of-Funnel &amp; Timestamp 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125,553 bounced sessions (51.98%) log 0 events; no timestamps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Add event_timestamp, app_open, compatibility_modal_shown, destination_search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Illuminates 70.78% Android Incompat bounce &amp; path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User Identity, Promo &amp; Debounce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user_id, no list_price_usd / promo_code_id, 250 tap loops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Add hashed user_id, list_price_usd, ad_cost_usd &amp; 500ms client tap debounce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Enables multi-session LTV, exact ROAS &amp; retry root cause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